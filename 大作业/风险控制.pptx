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60" r:id="rId5"/>
    <p:sldId id="262" r:id="rId6"/>
    <p:sldId id="261" r:id="rId7"/>
    <p:sldId id="265" r:id="rId8"/>
    <p:sldId id="259" r:id="rId9"/>
    <p:sldId id="267" r:id="rId10"/>
    <p:sldId id="271" r:id="rId11"/>
    <p:sldId id="270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www.kaggle.com/competitions/home-credit-credit-risk-model-stability/discussion/508337" TargetMode="External"/><Relationship Id="rId1" Type="http://schemas.openxmlformats.org/officeDocument/2006/relationships/hyperlink" Target="https://www.kaggle.com/code/jetakow/home-credit-2024-starter-notebook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hyperlink" Target="https://www.kaggle.com/code/sergiosaharovskiy/home-credit-crms-2024-eda-and-submission/notebook#Overview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hyperlink" Target="https://www.kaggle.com/code/sergiosaharovskiy/home-credit-crms-2024-eda-and-submission/notebook#Overview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hyperlink" Target="https://www.kaggle.com/competitions/home-credit-credit-risk-model-stability/discussion/508113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hyperlink" Target="https://www.kaggle.com/competitions/home-credit-credit-risk-model-stability/discussion/508753" TargetMode="Externa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Home Credit - Credit Risk Model Stability</a:t>
            </a:r>
            <a:endParaRPr lang="en-US" altLang="zh-C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  <a:p>
            <a:r>
              <a:rPr lang="zh-CN" altLang="en-US"/>
              <a:t>风控大作业</a:t>
            </a:r>
            <a:endParaRPr lang="zh-CN" altLang="en-US"/>
          </a:p>
          <a:p>
            <a:r>
              <a:rPr lang="zh-CN" altLang="en-US"/>
              <a:t>组员：周皓瑜 徐晟洋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/>
              <a:t>1. </a:t>
            </a:r>
            <a:r>
              <a:rPr lang="zh-CN" altLang="en-US"/>
              <a:t>题目描述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建立一个机器学习模型</a:t>
            </a:r>
            <a:endParaRPr lang="zh-CN" altLang="en-US"/>
          </a:p>
          <a:p>
            <a:r>
              <a:rPr lang="zh-CN" altLang="en-US"/>
              <a:t>用于判断未来时间内，新的贷款人是否有发生违约行为的风险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核心：长期稳定性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2. </a:t>
            </a:r>
            <a:r>
              <a:rPr lang="zh-CN" altLang="en-US"/>
              <a:t>评分体系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  <a:p>
            <a:endParaRPr lang="en-US" altLang="zh-CN"/>
          </a:p>
          <a:p>
            <a:r>
              <a:rPr lang="en-US" altLang="zh-CN"/>
              <a:t>geni</a:t>
            </a:r>
            <a:r>
              <a:rPr lang="zh-CN" altLang="en-US"/>
              <a:t>=</a:t>
            </a:r>
            <a:r>
              <a:rPr lang="en-US" altLang="zh-CN"/>
              <a:t>2*AUC</a:t>
            </a:r>
            <a:r>
              <a:rPr lang="zh-CN" altLang="en-US"/>
              <a:t>-</a:t>
            </a:r>
            <a:r>
              <a:rPr lang="en-US" altLang="zh-CN"/>
              <a:t>1</a:t>
            </a:r>
            <a:r>
              <a:rPr lang="zh-CN" altLang="en-US"/>
              <a:t>：衡量纯度</a:t>
            </a:r>
            <a:endParaRPr lang="en-US" altLang="zh-CN"/>
          </a:p>
          <a:p>
            <a:r>
              <a:rPr lang="en-US" altLang="zh-CN"/>
              <a:t>min(0,a)</a:t>
            </a:r>
            <a:r>
              <a:rPr lang="zh-CN" altLang="en-US"/>
              <a:t>：随时间下降率（惩罚预测能力下降的模型）</a:t>
            </a:r>
            <a:endParaRPr lang="zh-CN" altLang="en-US"/>
          </a:p>
          <a:p>
            <a:r>
              <a:rPr lang="en-US" altLang="zh-CN"/>
              <a:t>std(residuals)</a:t>
            </a:r>
            <a:r>
              <a:rPr lang="zh-CN" altLang="en-US"/>
              <a:t>：计算回归中残差的标准差（衡量模型波动性）</a:t>
            </a:r>
            <a:endParaRPr lang="zh-CN" altLang="en-US"/>
          </a:p>
        </p:txBody>
      </p:sp>
      <p:pic>
        <p:nvPicPr>
          <p:cNvPr id="4" name="图片 3" descr="post_object_image_15144875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95" y="1825673"/>
            <a:ext cx="8534400" cy="8477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3. </a:t>
            </a:r>
            <a:r>
              <a:rPr lang="zh-CN" altLang="en-US"/>
              <a:t>总体规划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/>
              <a:t>参照</a:t>
            </a:r>
            <a:r>
              <a:rPr lang="zh-CN" altLang="en-US">
                <a:cs typeface="Arial" panose="020B0604020202020204" pitchFamily="34" charset="0"/>
              </a:rPr>
              <a:t>模板框架</a:t>
            </a:r>
            <a:endParaRPr lang="zh-CN" altLang="en-US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>
                <a:cs typeface="Arial" panose="020B0604020202020204" pitchFamily="34" charset="0"/>
              </a:rPr>
              <a:t>导入库、加载训练集和数据集</a:t>
            </a:r>
            <a:endParaRPr lang="zh-CN" altLang="en-US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endParaRPr lang="zh-CN" altLang="en-US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>
                <a:cs typeface="Arial" panose="020B0604020202020204" pitchFamily="34" charset="0"/>
              </a:rPr>
              <a:t>特征工程（重点）</a:t>
            </a:r>
            <a:endParaRPr lang="zh-CN" altLang="en-US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>
                <a:cs typeface="Arial" panose="020B0604020202020204" pitchFamily="34" charset="0"/>
              </a:rPr>
              <a:t>模型训练（重点）</a:t>
            </a:r>
            <a:endParaRPr lang="zh-CN" altLang="en-US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endParaRPr lang="zh-CN" altLang="en-US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>
                <a:cs typeface="Arial" panose="020B0604020202020204" pitchFamily="34" charset="0"/>
              </a:rPr>
              <a:t>模型评估</a:t>
            </a:r>
            <a:endParaRPr lang="zh-CN" altLang="en-US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>
                <a:cs typeface="Arial" panose="020B0604020202020204" pitchFamily="34" charset="0"/>
              </a:rPr>
              <a:t>指标优化（可以有效提升分数，但是本身无意义）</a:t>
            </a:r>
            <a:endParaRPr lang="zh-CN" altLang="en-US"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>
                <a:cs typeface="Arial" panose="020B0604020202020204" pitchFamily="34" charset="0"/>
              </a:rPr>
              <a:t>导出</a:t>
            </a:r>
            <a:endParaRPr lang="zh-CN" altLang="en-US">
              <a:cs typeface="Arial" panose="020B0604020202020204" pitchFamily="34" charset="0"/>
            </a:endParaRPr>
          </a:p>
          <a:p>
            <a:pPr lvl="0"/>
            <a:endParaRPr lang="zh-CN" altLang="en-US"/>
          </a:p>
          <a:p>
            <a:pPr marL="0" lvl="0" indent="0">
              <a:buNone/>
            </a:pPr>
            <a:endParaRPr lang="zh-CN" altLang="en-US"/>
          </a:p>
        </p:txBody>
      </p:sp>
      <p:sp>
        <p:nvSpPr>
          <p:cNvPr id="4" name="文本框 3"/>
          <p:cNvSpPr txBox="1"/>
          <p:nvPr userDrawn="1"/>
        </p:nvSpPr>
        <p:spPr>
          <a:xfrm>
            <a:off x="838195" y="5845536"/>
            <a:ext cx="9758680" cy="64516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>
                <a:hlinkClick r:id="rId1"/>
              </a:rPr>
              <a:t>https://www.kaggle.com/code/jetakow/home</a:t>
            </a:r>
            <a:r>
              <a:rPr lang="zh-CN" altLang="en-US">
                <a:hlinkClick r:id="rId1"/>
              </a:rPr>
              <a:t>-</a:t>
            </a:r>
            <a:r>
              <a:rPr lang="en-US" altLang="zh-CN">
                <a:hlinkClick r:id="rId1"/>
              </a:rPr>
              <a:t>credit</a:t>
            </a:r>
            <a:r>
              <a:rPr lang="zh-CN" altLang="en-US">
                <a:hlinkClick r:id="rId1"/>
              </a:rPr>
              <a:t>-</a:t>
            </a:r>
            <a:r>
              <a:rPr lang="en-US" altLang="zh-CN">
                <a:hlinkClick r:id="rId1"/>
              </a:rPr>
              <a:t>2024</a:t>
            </a:r>
            <a:r>
              <a:rPr lang="zh-CN" altLang="en-US">
                <a:hlinkClick r:id="rId1"/>
              </a:rPr>
              <a:t>-</a:t>
            </a:r>
            <a:r>
              <a:rPr lang="en-US" altLang="zh-CN">
                <a:hlinkClick r:id="rId1"/>
              </a:rPr>
              <a:t>starter</a:t>
            </a:r>
            <a:r>
              <a:rPr lang="zh-CN" altLang="en-US">
                <a:hlinkClick r:id="rId1"/>
              </a:rPr>
              <a:t>-</a:t>
            </a:r>
            <a:r>
              <a:rPr lang="en-US" altLang="zh-CN">
                <a:hlinkClick r:id="rId1"/>
              </a:rPr>
              <a:t>notebook</a:t>
            </a:r>
            <a:endParaRPr lang="en-US" altLang="zh-CN">
              <a:hlinkClick r:id="rId1"/>
            </a:endParaRPr>
          </a:p>
          <a:p>
            <a:r>
              <a:rPr lang="en-US" altLang="zh-CN">
                <a:hlinkClick r:id="rId2"/>
              </a:rPr>
              <a:t>https://www.kaggle.com/competitions/home</a:t>
            </a:r>
            <a:r>
              <a:rPr lang="zh-CN" altLang="en-US">
                <a:hlinkClick r:id="rId2"/>
              </a:rPr>
              <a:t>-</a:t>
            </a:r>
            <a:r>
              <a:rPr lang="en-US" altLang="zh-CN">
                <a:hlinkClick r:id="rId2"/>
              </a:rPr>
              <a:t>credit</a:t>
            </a:r>
            <a:r>
              <a:rPr lang="zh-CN" altLang="en-US">
                <a:hlinkClick r:id="rId2"/>
              </a:rPr>
              <a:t>-</a:t>
            </a:r>
            <a:r>
              <a:rPr lang="en-US" altLang="zh-CN">
                <a:hlinkClick r:id="rId2"/>
              </a:rPr>
              <a:t>credit</a:t>
            </a:r>
            <a:r>
              <a:rPr lang="zh-CN" altLang="en-US">
                <a:hlinkClick r:id="rId2"/>
              </a:rPr>
              <a:t>-</a:t>
            </a:r>
            <a:r>
              <a:rPr lang="en-US" altLang="zh-CN">
                <a:hlinkClick r:id="rId2"/>
              </a:rPr>
              <a:t>risk</a:t>
            </a:r>
            <a:r>
              <a:rPr lang="zh-CN" altLang="en-US">
                <a:hlinkClick r:id="rId2"/>
              </a:rPr>
              <a:t>-</a:t>
            </a:r>
            <a:r>
              <a:rPr lang="en-US" altLang="zh-CN">
                <a:hlinkClick r:id="rId2"/>
              </a:rPr>
              <a:t>model</a:t>
            </a:r>
            <a:r>
              <a:rPr lang="zh-CN" altLang="en-US">
                <a:hlinkClick r:id="rId2"/>
              </a:rPr>
              <a:t>-</a:t>
            </a:r>
            <a:r>
              <a:rPr lang="en-US" altLang="zh-CN">
                <a:hlinkClick r:id="rId2"/>
              </a:rPr>
              <a:t>stability/discussion/508337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4. </a:t>
            </a:r>
            <a:r>
              <a:rPr lang="zh-CN" altLang="en-US">
                <a:cs typeface="Arial" panose="020B0604020202020204" pitchFamily="34" charset="0"/>
              </a:rPr>
              <a:t>数据集分析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1. </a:t>
            </a:r>
            <a:r>
              <a:rPr lang="zh-CN" altLang="en-US">
                <a:cs typeface="Arial" panose="020B0604020202020204" pitchFamily="34" charset="0"/>
              </a:rPr>
              <a:t>数据集很大</a:t>
            </a:r>
            <a:endParaRPr lang="zh-CN" altLang="en-US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zh-CN" altLang="en-US">
                <a:cs typeface="Arial" panose="020B0604020202020204" pitchFamily="34" charset="0"/>
              </a:rPr>
              <a:t>（考虑使用</a:t>
            </a:r>
            <a:r>
              <a:rPr lang="en-US" altLang="zh-CN">
                <a:cs typeface="Arial" panose="020B0604020202020204" pitchFamily="34" charset="0"/>
              </a:rPr>
              <a:t>polars</a:t>
            </a:r>
            <a:r>
              <a:rPr lang="zh-CN" altLang="en-US">
                <a:cs typeface="Arial" panose="020B0604020202020204" pitchFamily="34" charset="0"/>
              </a:rPr>
              <a:t>库）</a:t>
            </a:r>
            <a:endParaRPr lang="zh-CN" altLang="en-US"/>
          </a:p>
        </p:txBody>
      </p:sp>
      <p:sp>
        <p:nvSpPr>
          <p:cNvPr id="4" name="文本框 3"/>
          <p:cNvSpPr txBox="1"/>
          <p:nvPr userDrawn="1"/>
        </p:nvSpPr>
        <p:spPr>
          <a:xfrm>
            <a:off x="838195" y="6177019"/>
            <a:ext cx="116763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>
                <a:hlinkClick r:id="rId1"/>
              </a:rPr>
              <a:t>https://www.kaggle.com/code/sergiosaharovskiy/home</a:t>
            </a:r>
            <a:r>
              <a:rPr lang="zh-CN" altLang="en-US">
                <a:hlinkClick r:id="rId1"/>
              </a:rPr>
              <a:t>-</a:t>
            </a:r>
            <a:r>
              <a:rPr lang="en-US" altLang="zh-CN">
                <a:hlinkClick r:id="rId1"/>
              </a:rPr>
              <a:t>credit</a:t>
            </a:r>
            <a:r>
              <a:rPr lang="zh-CN" altLang="en-US">
                <a:hlinkClick r:id="rId1"/>
              </a:rPr>
              <a:t>-</a:t>
            </a:r>
            <a:r>
              <a:rPr lang="en-US" altLang="zh-CN">
                <a:hlinkClick r:id="rId1"/>
              </a:rPr>
              <a:t>crms</a:t>
            </a:r>
            <a:r>
              <a:rPr lang="zh-CN" altLang="en-US">
                <a:hlinkClick r:id="rId1"/>
              </a:rPr>
              <a:t>-</a:t>
            </a:r>
            <a:r>
              <a:rPr lang="en-US" altLang="zh-CN">
                <a:hlinkClick r:id="rId1"/>
              </a:rPr>
              <a:t>2024</a:t>
            </a:r>
            <a:r>
              <a:rPr lang="zh-CN" altLang="en-US">
                <a:hlinkClick r:id="rId1"/>
              </a:rPr>
              <a:t>-</a:t>
            </a:r>
            <a:r>
              <a:rPr lang="en-US" altLang="zh-CN">
                <a:hlinkClick r:id="rId1"/>
              </a:rPr>
              <a:t>eda</a:t>
            </a:r>
            <a:r>
              <a:rPr lang="zh-CN" altLang="en-US">
                <a:hlinkClick r:id="rId1"/>
              </a:rPr>
              <a:t>-</a:t>
            </a:r>
            <a:r>
              <a:rPr lang="en-US" altLang="zh-CN">
                <a:hlinkClick r:id="rId1"/>
              </a:rPr>
              <a:t>and</a:t>
            </a:r>
            <a:r>
              <a:rPr lang="zh-CN" altLang="en-US">
                <a:hlinkClick r:id="rId1"/>
              </a:rPr>
              <a:t>-</a:t>
            </a:r>
            <a:r>
              <a:rPr lang="en-US" altLang="zh-CN">
                <a:hlinkClick r:id="rId1"/>
              </a:rPr>
              <a:t>submission/notebook</a:t>
            </a:r>
            <a:r>
              <a:rPr lang="zh-CN" altLang="en-US">
                <a:hlinkClick r:id="rId1"/>
              </a:rPr>
              <a:t>#</a:t>
            </a:r>
            <a:r>
              <a:rPr lang="en-US" altLang="zh-CN">
                <a:hlinkClick r:id="rId1"/>
              </a:rPr>
              <a:t>Overview</a:t>
            </a:r>
            <a:endParaRPr lang="zh-CN" altLang="en-US"/>
          </a:p>
        </p:txBody>
      </p:sp>
      <p:pic>
        <p:nvPicPr>
          <p:cNvPr id="6" name="图片 5" descr="post_object_image_3678866912"/>
          <p:cNvPicPr>
            <a:picLocks noChangeAspect="1"/>
          </p:cNvPicPr>
          <p:nvPr/>
        </p:nvPicPr>
        <p:blipFill>
          <a:blip r:embed="rId2"/>
          <a:srcRect b="7857"/>
          <a:stretch>
            <a:fillRect/>
          </a:stretch>
        </p:blipFill>
        <p:spPr>
          <a:xfrm>
            <a:off x="4629109" y="1690679"/>
            <a:ext cx="6724650" cy="44233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4. </a:t>
            </a:r>
            <a:r>
              <a:rPr lang="zh-CN" altLang="en-US">
                <a:cs typeface="Arial" panose="020B0604020202020204" pitchFamily="34" charset="0"/>
              </a:rPr>
              <a:t>数据集分析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1. </a:t>
            </a:r>
            <a:r>
              <a:rPr lang="zh-CN" altLang="en-US"/>
              <a:t>数据集很大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（考虑使用</a:t>
            </a:r>
            <a:r>
              <a:rPr lang="en-US" altLang="zh-CN"/>
              <a:t>polars</a:t>
            </a:r>
            <a:r>
              <a:rPr lang="zh-CN" altLang="en-US"/>
              <a:t>库）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2. Null values</a:t>
            </a:r>
            <a:r>
              <a:rPr lang="zh-CN" altLang="en-US"/>
              <a:t>占比高</a:t>
            </a:r>
            <a:endParaRPr lang="zh-CN" altLang="en-US"/>
          </a:p>
          <a:p>
            <a:pPr marL="0" indent="0">
              <a:buNone/>
            </a:pPr>
            <a:r>
              <a:rPr lang="zh-CN" altLang="en-US" sz="2400"/>
              <a:t>（不使用</a:t>
            </a:r>
            <a:r>
              <a:rPr lang="en-US" altLang="zh-CN" sz="2400"/>
              <a:t>credit_bureau_b_2</a:t>
            </a:r>
            <a:r>
              <a:rPr lang="zh-CN" altLang="en-US" sz="2400"/>
              <a:t>等</a:t>
            </a:r>
            <a:endParaRPr lang="zh-CN" altLang="en-US" sz="2400"/>
          </a:p>
          <a:p>
            <a:pPr marL="0" indent="0">
              <a:buNone/>
            </a:pPr>
            <a:r>
              <a:rPr lang="en-US" altLang="zh-CN" sz="2400"/>
              <a:t>case_id</a:t>
            </a:r>
            <a:r>
              <a:rPr lang="zh-CN" altLang="en-US" sz="2400"/>
              <a:t>缺失比例高的表）</a:t>
            </a:r>
            <a:endParaRPr lang="zh-CN" altLang="en-US" sz="240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838195" y="6177019"/>
            <a:ext cx="116763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>
                <a:hlinkClick r:id="rId1"/>
              </a:rPr>
              <a:t>https://www.kaggle.com/code/sergiosaharovskiy/home</a:t>
            </a:r>
            <a:r>
              <a:rPr lang="zh-CN" altLang="en-US">
                <a:hlinkClick r:id="rId1"/>
              </a:rPr>
              <a:t>-</a:t>
            </a:r>
            <a:r>
              <a:rPr lang="en-US" altLang="zh-CN">
                <a:hlinkClick r:id="rId1"/>
              </a:rPr>
              <a:t>credit</a:t>
            </a:r>
            <a:r>
              <a:rPr lang="zh-CN" altLang="en-US">
                <a:hlinkClick r:id="rId1"/>
              </a:rPr>
              <a:t>-</a:t>
            </a:r>
            <a:r>
              <a:rPr lang="en-US" altLang="zh-CN">
                <a:hlinkClick r:id="rId1"/>
              </a:rPr>
              <a:t>crms</a:t>
            </a:r>
            <a:r>
              <a:rPr lang="zh-CN" altLang="en-US">
                <a:hlinkClick r:id="rId1"/>
              </a:rPr>
              <a:t>-</a:t>
            </a:r>
            <a:r>
              <a:rPr lang="en-US" altLang="zh-CN">
                <a:hlinkClick r:id="rId1"/>
              </a:rPr>
              <a:t>2024</a:t>
            </a:r>
            <a:r>
              <a:rPr lang="zh-CN" altLang="en-US">
                <a:hlinkClick r:id="rId1"/>
              </a:rPr>
              <a:t>-</a:t>
            </a:r>
            <a:r>
              <a:rPr lang="en-US" altLang="zh-CN">
                <a:hlinkClick r:id="rId1"/>
              </a:rPr>
              <a:t>eda</a:t>
            </a:r>
            <a:r>
              <a:rPr lang="zh-CN" altLang="en-US">
                <a:hlinkClick r:id="rId1"/>
              </a:rPr>
              <a:t>-</a:t>
            </a:r>
            <a:r>
              <a:rPr lang="en-US" altLang="zh-CN">
                <a:hlinkClick r:id="rId1"/>
              </a:rPr>
              <a:t>and</a:t>
            </a:r>
            <a:r>
              <a:rPr lang="zh-CN" altLang="en-US">
                <a:hlinkClick r:id="rId1"/>
              </a:rPr>
              <a:t>-</a:t>
            </a:r>
            <a:r>
              <a:rPr lang="en-US" altLang="zh-CN">
                <a:hlinkClick r:id="rId1"/>
              </a:rPr>
              <a:t>submission/notebook</a:t>
            </a:r>
            <a:r>
              <a:rPr lang="zh-CN" altLang="en-US">
                <a:hlinkClick r:id="rId1"/>
              </a:rPr>
              <a:t>#</a:t>
            </a:r>
            <a:r>
              <a:rPr lang="en-US" altLang="zh-CN">
                <a:hlinkClick r:id="rId1"/>
              </a:rPr>
              <a:t>Overview</a:t>
            </a:r>
            <a:endParaRPr lang="zh-CN" altLang="en-US"/>
          </a:p>
        </p:txBody>
      </p:sp>
      <p:pic>
        <p:nvPicPr>
          <p:cNvPr id="5" name="图片 4" descr="post_object_image_37432577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603" y="1690679"/>
            <a:ext cx="6400156" cy="44863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</a:rPr>
              <a:t>5. </a:t>
            </a:r>
            <a:r>
              <a:rPr lang="zh-CN" altLang="en-US">
                <a:solidFill>
                  <a:schemeClr val="tx1"/>
                </a:solidFill>
              </a:rPr>
              <a:t>特征工程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538" cy="4351338"/>
          </a:xfrm>
        </p:spPr>
        <p:txBody>
          <a:bodyPr>
            <a:normAutofit lnSpcReduction="10000"/>
          </a:bodyPr>
          <a:p>
            <a:pPr>
              <a:lnSpc>
                <a:spcPct val="110000"/>
              </a:lnSpc>
            </a:pPr>
            <a:r>
              <a:rPr lang="zh-CN" altLang="en-US" sz="1800"/>
              <a:t>由于给出的数据有多方面的特征以及不同的深度，故需要进行数据预处理，对不同深度的数据进行聚合得出统计特征，并利用得到的统计特征训练模型。</a:t>
            </a:r>
            <a:endParaRPr lang="zh-CN" altLang="en-US" sz="1800"/>
          </a:p>
          <a:p>
            <a:pPr>
              <a:lnSpc>
                <a:spcPct val="110000"/>
              </a:lnSpc>
            </a:pPr>
            <a:r>
              <a:rPr lang="zh-CN" altLang="en-US" sz="1800"/>
              <a:t>初步的想法是剔除</a:t>
            </a:r>
            <a:r>
              <a:rPr lang="en-US" altLang="zh-CN" sz="1800"/>
              <a:t>null</a:t>
            </a:r>
            <a:r>
              <a:rPr lang="zh-CN" altLang="en-US" sz="1800"/>
              <a:t>值过多的属性，或只使用其有值的部分，并对</a:t>
            </a:r>
            <a:r>
              <a:rPr lang="en-US" altLang="zh-CN" sz="1800"/>
              <a:t>depth&gt;0</a:t>
            </a:r>
            <a:r>
              <a:rPr lang="zh-CN" altLang="en-US" sz="1800"/>
              <a:t>的项进行适当的聚合，加入某些指标按时间段的统计值，加入拟合各特征</a:t>
            </a:r>
            <a:r>
              <a:rPr lang="zh-CN" altLang="en-US" sz="1800">
                <a:solidFill>
                  <a:schemeClr val="tx1"/>
                </a:solidFill>
              </a:rPr>
              <a:t>随</a:t>
            </a:r>
            <a:r>
              <a:rPr lang="zh-CN" altLang="en-US" sz="1800"/>
              <a:t>时间</a:t>
            </a:r>
            <a:r>
              <a:rPr lang="zh-CN" altLang="en-US" sz="1800">
                <a:solidFill>
                  <a:schemeClr val="tx1"/>
                </a:solidFill>
              </a:rPr>
              <a:t>的变化</a:t>
            </a:r>
            <a:r>
              <a:rPr lang="zh-CN" altLang="en-US" sz="1800"/>
              <a:t>趋势的结果，利用已有值计算出常识上容易导致违约行为的相关特征，如负债与收入比、还款健康度、信用利用率等作为附加的特征，并且考虑当时当地社会的经济趋势，加入额外的辅助特征。</a:t>
            </a:r>
            <a:endParaRPr lang="zh-CN" altLang="en-US" sz="1800"/>
          </a:p>
          <a:p>
            <a:pPr>
              <a:lnSpc>
                <a:spcPct val="110000"/>
              </a:lnSpc>
            </a:pPr>
            <a:r>
              <a:rPr lang="zh-CN" altLang="en-US" sz="1800"/>
              <a:t>最后剔除高相关性的特征，减少维度来减轻训练压力。</a:t>
            </a:r>
            <a:endParaRPr lang="zh-CN" altLang="en-US" sz="1800"/>
          </a:p>
          <a:p>
            <a:pPr>
              <a:lnSpc>
                <a:spcPct val="110000"/>
              </a:lnSpc>
            </a:pPr>
            <a:r>
              <a:rPr lang="zh-CN" altLang="en-US" sz="1800"/>
              <a:t>为了保证模型稳定性，可以考虑限制一些随</a:t>
            </a:r>
            <a:r>
              <a:rPr lang="en-US" altLang="zh-CN" sz="1800"/>
              <a:t>WEEK</a:t>
            </a:r>
            <a:r>
              <a:rPr lang="zh-CN" altLang="en-US" sz="1800"/>
              <a:t>波动性较大的特征所占的权重。</a:t>
            </a:r>
            <a:endParaRPr lang="zh-CN" altLang="en-US" sz="1800"/>
          </a:p>
          <a:p>
            <a:pPr>
              <a:lnSpc>
                <a:spcPct val="110000"/>
              </a:lnSpc>
            </a:pPr>
            <a:endParaRPr lang="en-US" altLang="zh-CN" sz="1800"/>
          </a:p>
          <a:p>
            <a:pPr>
              <a:lnSpc>
                <a:spcPct val="110000"/>
              </a:lnSpc>
            </a:pPr>
            <a:r>
              <a:rPr lang="zh-CN" altLang="en-US" sz="1800">
                <a:solidFill>
                  <a:schemeClr val="tx1"/>
                </a:solidFill>
              </a:rPr>
              <a:t>参考</a:t>
            </a:r>
            <a:r>
              <a:rPr lang="zh-CN" altLang="en-US" sz="1800"/>
              <a:t>操作：</a:t>
            </a:r>
            <a:endParaRPr lang="zh-CN" altLang="en-US" sz="1800"/>
          </a:p>
          <a:p>
            <a:pPr marL="0" indent="457200">
              <a:lnSpc>
                <a:spcPct val="110000"/>
              </a:lnSpc>
              <a:buNone/>
            </a:pPr>
            <a:r>
              <a:rPr lang="zh-CN" altLang="en-US" sz="1800"/>
              <a:t>添加属性：如计算年代</a:t>
            </a:r>
            <a:r>
              <a:rPr lang="en-US" altLang="zh-CN" sz="1800"/>
              <a:t>Era</a:t>
            </a:r>
            <a:r>
              <a:rPr lang="zh-CN" altLang="en-US" sz="1800"/>
              <a:t>，雇佣期限等</a:t>
            </a:r>
            <a:endParaRPr lang="zh-CN" altLang="en-US" sz="1800"/>
          </a:p>
          <a:p>
            <a:pPr marL="0" indent="457200">
              <a:lnSpc>
                <a:spcPct val="110000"/>
              </a:lnSpc>
              <a:buNone/>
            </a:pPr>
            <a:r>
              <a:rPr lang="zh-CN" altLang="en-US" sz="1800"/>
              <a:t>删除属性：手动删除随</a:t>
            </a:r>
            <a:r>
              <a:rPr lang="en-US" altLang="zh-CN" sz="1800"/>
              <a:t>WEEK_NUM</a:t>
            </a:r>
            <a:r>
              <a:rPr lang="zh-CN" altLang="en-US" sz="1800"/>
              <a:t>波动较大的特征（确保模型稳定性，避免过拟合）</a:t>
            </a:r>
            <a:endParaRPr lang="zh-CN" altLang="en-US" sz="180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838230" y="6176926"/>
            <a:ext cx="9741535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>
                <a:hlinkClick r:id="rId1"/>
              </a:rPr>
              <a:t>https://www.kaggle.com/competitions/home</a:t>
            </a:r>
            <a:r>
              <a:rPr lang="zh-CN" altLang="en-US">
                <a:hlinkClick r:id="rId1"/>
              </a:rPr>
              <a:t>-</a:t>
            </a:r>
            <a:r>
              <a:rPr lang="en-US" altLang="zh-CN">
                <a:hlinkClick r:id="rId1"/>
              </a:rPr>
              <a:t>credit</a:t>
            </a:r>
            <a:r>
              <a:rPr lang="zh-CN" altLang="en-US">
                <a:hlinkClick r:id="rId1"/>
              </a:rPr>
              <a:t>-</a:t>
            </a:r>
            <a:r>
              <a:rPr lang="en-US" altLang="zh-CN">
                <a:hlinkClick r:id="rId1"/>
              </a:rPr>
              <a:t>credit</a:t>
            </a:r>
            <a:r>
              <a:rPr lang="zh-CN" altLang="en-US">
                <a:hlinkClick r:id="rId1"/>
              </a:rPr>
              <a:t>-</a:t>
            </a:r>
            <a:r>
              <a:rPr lang="en-US" altLang="zh-CN">
                <a:hlinkClick r:id="rId1"/>
              </a:rPr>
              <a:t>risk</a:t>
            </a:r>
            <a:r>
              <a:rPr lang="zh-CN" altLang="en-US">
                <a:hlinkClick r:id="rId1"/>
              </a:rPr>
              <a:t>-</a:t>
            </a:r>
            <a:r>
              <a:rPr lang="en-US" altLang="zh-CN">
                <a:hlinkClick r:id="rId1"/>
              </a:rPr>
              <a:t>model</a:t>
            </a:r>
            <a:r>
              <a:rPr lang="zh-CN" altLang="en-US">
                <a:hlinkClick r:id="rId1"/>
              </a:rPr>
              <a:t>-</a:t>
            </a:r>
            <a:r>
              <a:rPr lang="en-US" altLang="zh-CN">
                <a:hlinkClick r:id="rId1"/>
              </a:rPr>
              <a:t>stability/discussion/508113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6. </a:t>
            </a:r>
            <a:r>
              <a:rPr lang="zh-CN" altLang="en-US"/>
              <a:t>模型</a:t>
            </a:r>
            <a:r>
              <a:rPr lang="zh-CN" altLang="en-US">
                <a:cs typeface="Arial" panose="020B0604020202020204" pitchFamily="34" charset="0"/>
              </a:rPr>
              <a:t>训练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538" cy="4351338"/>
          </a:xfrm>
        </p:spPr>
        <p:txBody>
          <a:bodyPr>
            <a:normAutofit lnSpcReduction="10000"/>
          </a:bodyPr>
          <a:p>
            <a:pPr>
              <a:lnSpc>
                <a:spcPct val="110000"/>
              </a:lnSpc>
            </a:pPr>
            <a:r>
              <a:rPr lang="zh-CN" altLang="en-US" sz="1800"/>
              <a:t>由于</a:t>
            </a:r>
            <a:r>
              <a:rPr lang="zh-CN" altLang="en-US" sz="1800">
                <a:cs typeface="Arial" panose="020B0604020202020204" pitchFamily="34" charset="0"/>
              </a:rPr>
              <a:t>整体数据有近</a:t>
            </a:r>
            <a:r>
              <a:rPr lang="en-US" altLang="zh-CN" sz="1800">
                <a:cs typeface="Arial" panose="020B0604020202020204" pitchFamily="34" charset="0"/>
              </a:rPr>
              <a:t>23G</a:t>
            </a:r>
            <a:r>
              <a:rPr lang="zh-CN" altLang="en-US" sz="1800">
                <a:cs typeface="Arial" panose="020B0604020202020204" pitchFamily="34" charset="0"/>
              </a:rPr>
              <a:t>，我们决定</a:t>
            </a:r>
            <a:r>
              <a:rPr lang="zh-CN" altLang="en-US" sz="1800">
                <a:solidFill>
                  <a:schemeClr val="tx1"/>
                </a:solidFill>
                <a:cs typeface="Arial" panose="020B0604020202020204" pitchFamily="34" charset="0"/>
              </a:rPr>
              <a:t>使用</a:t>
            </a:r>
            <a:r>
              <a:rPr lang="en-US" altLang="zh-CN" sz="1800">
                <a:solidFill>
                  <a:schemeClr val="tx1"/>
                </a:solidFill>
                <a:cs typeface="Arial" panose="020B0604020202020204" pitchFamily="34" charset="0"/>
              </a:rPr>
              <a:t>bagging</a:t>
            </a:r>
            <a:r>
              <a:rPr lang="zh-CN" altLang="en-US" sz="1800">
                <a:solidFill>
                  <a:schemeClr val="tx1"/>
                </a:solidFill>
                <a:cs typeface="Arial" panose="020B0604020202020204" pitchFamily="34" charset="0"/>
              </a:rPr>
              <a:t>算法，</a:t>
            </a:r>
            <a:r>
              <a:rPr lang="zh-CN" altLang="en-US" sz="1800">
                <a:cs typeface="Arial" panose="020B0604020202020204" pitchFamily="34" charset="0"/>
              </a:rPr>
              <a:t>训练</a:t>
            </a:r>
            <a:r>
              <a:rPr lang="en-US" altLang="zh-CN" sz="1800">
                <a:cs typeface="Arial" panose="020B0604020202020204" pitchFamily="34" charset="0"/>
              </a:rPr>
              <a:t>LightGBM</a:t>
            </a:r>
            <a:r>
              <a:rPr lang="zh-CN" altLang="en-US" sz="1800">
                <a:cs typeface="Arial" panose="020B0604020202020204" pitchFamily="34" charset="0"/>
              </a:rPr>
              <a:t>和</a:t>
            </a:r>
            <a:r>
              <a:rPr lang="en-US" altLang="zh-CN" sz="1800">
                <a:cs typeface="Arial" panose="020B0604020202020204" pitchFamily="34" charset="0"/>
              </a:rPr>
              <a:t>XGBoost</a:t>
            </a:r>
            <a:r>
              <a:rPr lang="zh-CN" altLang="en-US" sz="1800">
                <a:cs typeface="Arial" panose="020B0604020202020204" pitchFamily="34" charset="0"/>
              </a:rPr>
              <a:t>两组模型。</a:t>
            </a:r>
            <a:endParaRPr lang="zh-CN" altLang="en-US" sz="1800"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1800">
                <a:solidFill>
                  <a:schemeClr val="tx1"/>
                </a:solidFill>
                <a:cs typeface="Arial" panose="020B0604020202020204" pitchFamily="34" charset="0"/>
              </a:rPr>
              <a:t>为了防止数据集过大导致训练缓慢，我们</a:t>
            </a:r>
            <a:r>
              <a:rPr lang="zh-CN" altLang="en-US" sz="1800">
                <a:cs typeface="Arial" panose="020B0604020202020204" pitchFamily="34" charset="0"/>
              </a:rPr>
              <a:t>在总的训练集上按</a:t>
            </a:r>
            <a:r>
              <a:rPr lang="zh-CN" altLang="en-US" sz="1800">
                <a:solidFill>
                  <a:schemeClr val="tx1"/>
                </a:solidFill>
                <a:cs typeface="Arial" panose="020B0604020202020204" pitchFamily="34" charset="0"/>
              </a:rPr>
              <a:t>WEEK_NUM和违约比例分层</a:t>
            </a:r>
            <a:r>
              <a:rPr lang="zh-CN" altLang="en-US" sz="1800">
                <a:cs typeface="Arial" panose="020B0604020202020204" pitchFamily="34" charset="0"/>
              </a:rPr>
              <a:t>采样得到</a:t>
            </a:r>
            <a:r>
              <a:rPr lang="en-US" altLang="zh-CN" sz="1800">
                <a:cs typeface="Arial" panose="020B0604020202020204" pitchFamily="34" charset="0"/>
              </a:rPr>
              <a:t>XGBoost</a:t>
            </a:r>
            <a:r>
              <a:rPr lang="zh-CN" altLang="en-US" sz="1800">
                <a:cs typeface="Arial" panose="020B0604020202020204" pitchFamily="34" charset="0"/>
              </a:rPr>
              <a:t>的训练集，并用总的训练集训练</a:t>
            </a:r>
            <a:r>
              <a:rPr lang="en-US" altLang="zh-CN" sz="1800">
                <a:cs typeface="Arial" panose="020B0604020202020204" pitchFamily="34" charset="0"/>
              </a:rPr>
              <a:t>LightGBM</a:t>
            </a:r>
            <a:r>
              <a:rPr lang="zh-CN" altLang="en-US" sz="1800">
                <a:cs typeface="Arial" panose="020B0604020202020204" pitchFamily="34" charset="0"/>
              </a:rPr>
              <a:t>。</a:t>
            </a:r>
            <a:endParaRPr lang="zh-CN" altLang="en-US" sz="1800"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endParaRPr lang="en-US" altLang="zh-CN" sz="1800"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1800">
                <a:cs typeface="Arial" panose="020B0604020202020204" pitchFamily="34" charset="0"/>
              </a:rPr>
              <a:t>LightGBM</a:t>
            </a:r>
            <a:r>
              <a:rPr lang="zh-CN" altLang="en-US" sz="1800">
                <a:cs typeface="Arial" panose="020B0604020202020204" pitchFamily="34" charset="0"/>
              </a:rPr>
              <a:t>的优点是能优化训练时间，并且剔除部分冗余信息，使用</a:t>
            </a:r>
            <a:r>
              <a:rPr lang="en-US" altLang="zh-CN" sz="1800">
                <a:cs typeface="Arial" panose="020B0604020202020204" pitchFamily="34" charset="0"/>
              </a:rPr>
              <a:t>EFB</a:t>
            </a:r>
            <a:r>
              <a:rPr lang="zh-CN" altLang="en-US" sz="1800">
                <a:cs typeface="Arial" panose="020B0604020202020204" pitchFamily="34" charset="0"/>
              </a:rPr>
              <a:t>达到特征降维的目的。</a:t>
            </a:r>
            <a:endParaRPr lang="zh-CN" altLang="en-US" sz="1800"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1800">
                <a:cs typeface="Arial" panose="020B0604020202020204" pitchFamily="34" charset="0"/>
              </a:rPr>
              <a:t>XGBoost</a:t>
            </a:r>
            <a:r>
              <a:rPr lang="zh-CN" altLang="en-US" sz="1800">
                <a:cs typeface="Arial" panose="020B0604020202020204" pitchFamily="34" charset="0"/>
              </a:rPr>
              <a:t>的优点是能</a:t>
            </a:r>
            <a:r>
              <a:rPr lang="zh-CN" altLang="en-US" sz="1800">
                <a:solidFill>
                  <a:schemeClr val="tx1"/>
                </a:solidFill>
                <a:cs typeface="Arial" panose="020B0604020202020204" pitchFamily="34" charset="0"/>
              </a:rPr>
              <a:t>充分利用</a:t>
            </a:r>
            <a:r>
              <a:rPr lang="zh-CN" altLang="en-US" sz="1800">
                <a:cs typeface="Arial" panose="020B0604020202020204" pitchFamily="34" charset="0"/>
              </a:rPr>
              <a:t>信息，并且可使用二阶导优化拟合效果，且其能处理缺失值。</a:t>
            </a:r>
            <a:endParaRPr lang="zh-CN" altLang="en-US" sz="1800"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1800">
                <a:cs typeface="Arial" panose="020B0604020202020204" pitchFamily="34" charset="0"/>
              </a:rPr>
              <a:t>两者各有侧重，不同的训练结果应该能为</a:t>
            </a:r>
            <a:r>
              <a:rPr lang="en-US" altLang="zh-CN" sz="1800">
                <a:cs typeface="Arial" panose="020B0604020202020204" pitchFamily="34" charset="0"/>
              </a:rPr>
              <a:t>bagging</a:t>
            </a:r>
            <a:r>
              <a:rPr lang="zh-CN" altLang="en-US" sz="1800">
                <a:cs typeface="Arial" panose="020B0604020202020204" pitchFamily="34" charset="0"/>
              </a:rPr>
              <a:t>带来增益，并且减少最终结果的波动性，带来赛事所要求的稳定性。</a:t>
            </a:r>
            <a:endParaRPr lang="zh-CN" altLang="en-US" sz="1800"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endParaRPr lang="zh-CN" altLang="en-US" sz="1800"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1800">
                <a:cs typeface="Arial" panose="020B0604020202020204" pitchFamily="34" charset="0"/>
              </a:rPr>
              <a:t>我们</a:t>
            </a:r>
            <a:r>
              <a:rPr lang="zh-CN" altLang="en-US" sz="1800">
                <a:solidFill>
                  <a:schemeClr val="tx1"/>
                </a:solidFill>
                <a:cs typeface="Arial" panose="020B0604020202020204" pitchFamily="34" charset="0"/>
              </a:rPr>
              <a:t>在训练集的最后几个</a:t>
            </a:r>
            <a:r>
              <a:rPr lang="en-US" altLang="zh-CN" sz="1800">
                <a:solidFill>
                  <a:schemeClr val="tx1"/>
                </a:solidFill>
                <a:cs typeface="Arial" panose="020B0604020202020204" pitchFamily="34" charset="0"/>
              </a:rPr>
              <a:t>WEEK</a:t>
            </a:r>
            <a:r>
              <a:rPr lang="zh-CN" altLang="en-US" sz="1800">
                <a:solidFill>
                  <a:schemeClr val="tx1"/>
                </a:solidFill>
                <a:cs typeface="Arial" panose="020B0604020202020204" pitchFamily="34" charset="0"/>
              </a:rPr>
              <a:t>划出验证集，并在验证集上验证两组模型的准确率，得出最终投票时两组模型输出各自所占的权重，以加权平均结果作为模型最终的输出（随机种子平均法）</a:t>
            </a:r>
            <a:endParaRPr lang="zh-CN" altLang="en-US" sz="1800"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endParaRPr lang="en-US" altLang="zh-CN" sz="1800"/>
          </a:p>
          <a:p>
            <a:pPr>
              <a:lnSpc>
                <a:spcPct val="110000"/>
              </a:lnSpc>
            </a:pPr>
            <a:endParaRPr lang="en-US" altLang="zh-CN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6. </a:t>
            </a:r>
            <a:r>
              <a:rPr lang="zh-CN" altLang="en-US"/>
              <a:t>模型训练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>
              <a:lnSpc>
                <a:spcPct val="110000"/>
              </a:lnSpc>
            </a:pPr>
            <a:r>
              <a:rPr lang="zh-CN" altLang="en-US" sz="2400"/>
              <a:t>还有一种寻找斜率的方法</a:t>
            </a:r>
            <a:endParaRPr lang="zh-CN" altLang="en-US" sz="2400"/>
          </a:p>
          <a:p>
            <a:pPr>
              <a:lnSpc>
                <a:spcPct val="110000"/>
              </a:lnSpc>
            </a:pPr>
            <a:r>
              <a:rPr lang="zh-CN" altLang="en-US" sz="2400"/>
              <a:t>留出最后</a:t>
            </a:r>
            <a:r>
              <a:rPr lang="en-US" altLang="zh-CN" sz="2400"/>
              <a:t>40</a:t>
            </a:r>
            <a:r>
              <a:rPr lang="zh-CN" altLang="en-US" sz="2400"/>
              <a:t>周（第</a:t>
            </a:r>
            <a:r>
              <a:rPr lang="en-US" altLang="zh-CN" sz="2400"/>
              <a:t>50 - 91</a:t>
            </a:r>
            <a:r>
              <a:rPr lang="zh-CN" altLang="en-US" sz="2400"/>
              <a:t>周）作为留存集，并训练了两个模型：</a:t>
            </a:r>
            <a:endParaRPr lang="zh-CN" altLang="en-US" sz="2400"/>
          </a:p>
          <a:p>
            <a:pPr lvl="1">
              <a:lnSpc>
                <a:spcPct val="110000"/>
              </a:lnSpc>
            </a:pPr>
            <a:r>
              <a:rPr lang="zh-CN" altLang="en-US" sz="2055"/>
              <a:t>一个基于前</a:t>
            </a:r>
            <a:r>
              <a:rPr lang="en-US" altLang="zh-CN" sz="2055"/>
              <a:t>25</a:t>
            </a:r>
            <a:r>
              <a:rPr lang="zh-CN" altLang="en-US" sz="2055"/>
              <a:t>周（第</a:t>
            </a:r>
            <a:r>
              <a:rPr lang="en-US" altLang="zh-CN" sz="2055"/>
              <a:t>0 - 25</a:t>
            </a:r>
            <a:r>
              <a:rPr lang="zh-CN" altLang="en-US" sz="2055"/>
              <a:t>周）的数据</a:t>
            </a:r>
            <a:endParaRPr lang="zh-CN" altLang="en-US" sz="2055"/>
          </a:p>
          <a:p>
            <a:pPr lvl="1">
              <a:lnSpc>
                <a:spcPct val="110000"/>
              </a:lnSpc>
            </a:pPr>
            <a:r>
              <a:rPr lang="zh-CN" altLang="en-US" sz="2055"/>
              <a:t>另一个基于接下来</a:t>
            </a:r>
            <a:r>
              <a:rPr lang="en-US" altLang="zh-CN" sz="2055"/>
              <a:t>25</a:t>
            </a:r>
            <a:r>
              <a:rPr lang="zh-CN" altLang="en-US" sz="2055"/>
              <a:t>周（第</a:t>
            </a:r>
            <a:r>
              <a:rPr lang="en-US" altLang="zh-CN" sz="2055"/>
              <a:t>25 - 50</a:t>
            </a:r>
            <a:r>
              <a:rPr lang="zh-CN" altLang="en-US" sz="2055"/>
              <a:t>周）的数据</a:t>
            </a:r>
            <a:endParaRPr lang="zh-CN" altLang="en-US" sz="2055"/>
          </a:p>
          <a:p>
            <a:pPr>
              <a:lnSpc>
                <a:spcPct val="110000"/>
              </a:lnSpc>
            </a:pPr>
            <a:r>
              <a:rPr lang="zh-CN" altLang="en-US" sz="2400"/>
              <a:t>这样做是为了估计与较旧数据相比，模型在最新数据上训练时性能下降程度</a:t>
            </a:r>
            <a:endParaRPr lang="zh-CN" altLang="en-US" sz="2400"/>
          </a:p>
          <a:p>
            <a:pPr>
              <a:lnSpc>
                <a:spcPct val="110000"/>
              </a:lnSpc>
            </a:pPr>
            <a:r>
              <a:rPr lang="zh-CN" altLang="en-US" sz="2400"/>
              <a:t>然后，我将第二个模型的预测结果与第一个模型的预测结果连接起来，并计算基尼稳定性指标，该指标现在带有负斜率惩罚。</a:t>
            </a:r>
            <a:endParaRPr lang="zh-CN" altLang="en-US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/>
              <a:t>7. </a:t>
            </a:r>
            <a:r>
              <a:rPr lang="en-US" altLang="zh-CN">
                <a:solidFill>
                  <a:schemeClr val="tx1"/>
                </a:solidFill>
              </a:rPr>
              <a:t>指标优化</a:t>
            </a:r>
            <a:r>
              <a:rPr lang="zh-CN" altLang="en-US">
                <a:solidFill>
                  <a:schemeClr val="tx1"/>
                </a:solidFill>
              </a:rPr>
              <a:t>（其实是钻空子）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538" cy="4351338"/>
          </a:xfrm>
        </p:spPr>
        <p:txBody>
          <a:bodyPr>
            <a:normAutofit lnSpcReduction="10000"/>
          </a:bodyPr>
          <a:p>
            <a:pPr marL="0" indent="0">
              <a:lnSpc>
                <a:spcPct val="110000"/>
              </a:lnSpc>
              <a:buNone/>
            </a:pPr>
            <a:endParaRPr lang="en-US" altLang="zh-CN" sz="1800"/>
          </a:p>
          <a:p>
            <a:pPr marL="0" indent="0">
              <a:lnSpc>
                <a:spcPct val="110000"/>
              </a:lnSpc>
              <a:buNone/>
            </a:pPr>
            <a:endParaRPr lang="en-US" altLang="zh-CN" sz="1800"/>
          </a:p>
          <a:p>
            <a:pPr marL="0" indent="0">
              <a:lnSpc>
                <a:spcPct val="110000"/>
              </a:lnSpc>
              <a:buNone/>
            </a:pPr>
            <a:endParaRPr lang="en-US" altLang="zh-CN" sz="1800"/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1800"/>
              <a:t>本实验中，由于</a:t>
            </a:r>
            <a:r>
              <a:rPr lang="en-US" altLang="zh-CN" sz="1800"/>
              <a:t>88*min(0,a)</a:t>
            </a:r>
            <a:r>
              <a:rPr lang="zh-CN" altLang="en-US" sz="1800"/>
              <a:t>这项系数过大</a:t>
            </a:r>
            <a:endParaRPr lang="zh-CN" altLang="en-US" sz="1800"/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1800"/>
              <a:t>所以可以通过降低前期表现，以</a:t>
            </a:r>
            <a:r>
              <a:rPr lang="zh-CN" altLang="en-US" sz="1800">
                <a:solidFill>
                  <a:schemeClr val="tx1"/>
                </a:solidFill>
              </a:rPr>
              <a:t>逃避</a:t>
            </a:r>
            <a:r>
              <a:rPr lang="zh-CN" altLang="en-US" sz="1800"/>
              <a:t>后期表现降低带来的惩罚</a:t>
            </a:r>
            <a:endParaRPr lang="zh-CN" altLang="en-US" sz="1800"/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1800"/>
              <a:t>进而提升分数</a:t>
            </a:r>
            <a:endParaRPr lang="zh-CN" altLang="en-US" sz="1800"/>
          </a:p>
          <a:p>
            <a:pPr marL="0" indent="0">
              <a:lnSpc>
                <a:spcPct val="110000"/>
              </a:lnSpc>
              <a:buNone/>
            </a:pPr>
            <a:endParaRPr lang="zh-CN" altLang="en-US" sz="1800"/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1800"/>
              <a:t>“正如最近广泛讨论的那样，指标技巧可以显著提高排行榜得分。我们的团队模拟了每周</a:t>
            </a:r>
            <a:r>
              <a:rPr lang="en-US" altLang="zh-CN" sz="1800"/>
              <a:t>AUC</a:t>
            </a:r>
            <a:r>
              <a:rPr lang="zh-CN" altLang="en-US" sz="1800"/>
              <a:t>逐渐下降的情况，并计算了相应的排行榜得分。我们发现，降低大约前</a:t>
            </a:r>
            <a:r>
              <a:rPr lang="en-US" altLang="zh-CN" sz="1800"/>
              <a:t>20%</a:t>
            </a:r>
            <a:r>
              <a:rPr lang="zh-CN" altLang="en-US" sz="1800"/>
              <a:t>数据的</a:t>
            </a:r>
            <a:r>
              <a:rPr lang="en-US" altLang="zh-CN" sz="1800"/>
              <a:t>AUC</a:t>
            </a:r>
            <a:r>
              <a:rPr lang="zh-CN" altLang="en-US" sz="1800"/>
              <a:t>能使排行榜得分最大化。”</a:t>
            </a:r>
            <a:endParaRPr lang="en-US" altLang="zh-CN" sz="1800"/>
          </a:p>
        </p:txBody>
      </p:sp>
      <p:pic>
        <p:nvPicPr>
          <p:cNvPr id="4" name="图片 3" descr="post_object_image_15144875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30" y="1825625"/>
            <a:ext cx="8534400" cy="847725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838230" y="5807356"/>
            <a:ext cx="97586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>
                <a:hlinkClick r:id="rId2"/>
              </a:rPr>
              <a:t>https://www.kaggle.com/competitions/home</a:t>
            </a:r>
            <a:r>
              <a:rPr lang="zh-CN" altLang="en-US">
                <a:hlinkClick r:id="rId2"/>
              </a:rPr>
              <a:t>-</a:t>
            </a:r>
            <a:r>
              <a:rPr lang="en-US" altLang="zh-CN">
                <a:hlinkClick r:id="rId2"/>
              </a:rPr>
              <a:t>credit</a:t>
            </a:r>
            <a:r>
              <a:rPr lang="zh-CN" altLang="en-US">
                <a:hlinkClick r:id="rId2"/>
              </a:rPr>
              <a:t>-</a:t>
            </a:r>
            <a:r>
              <a:rPr lang="en-US" altLang="zh-CN">
                <a:hlinkClick r:id="rId2"/>
              </a:rPr>
              <a:t>credit</a:t>
            </a:r>
            <a:r>
              <a:rPr lang="zh-CN" altLang="en-US">
                <a:hlinkClick r:id="rId2"/>
              </a:rPr>
              <a:t>-</a:t>
            </a:r>
            <a:r>
              <a:rPr lang="en-US" altLang="zh-CN">
                <a:hlinkClick r:id="rId2"/>
              </a:rPr>
              <a:t>risk</a:t>
            </a:r>
            <a:r>
              <a:rPr lang="zh-CN" altLang="en-US">
                <a:hlinkClick r:id="rId2"/>
              </a:rPr>
              <a:t>-</a:t>
            </a:r>
            <a:r>
              <a:rPr lang="en-US" altLang="zh-CN">
                <a:hlinkClick r:id="rId2"/>
              </a:rPr>
              <a:t>model</a:t>
            </a:r>
            <a:r>
              <a:rPr lang="zh-CN" altLang="en-US">
                <a:hlinkClick r:id="rId2"/>
              </a:rPr>
              <a:t>-</a:t>
            </a:r>
            <a:r>
              <a:rPr lang="en-US" altLang="zh-CN">
                <a:hlinkClick r:id="rId2"/>
              </a:rPr>
              <a:t>stability/discussion/508753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43" y="774837"/>
            <a:ext cx="10515600" cy="2852737"/>
          </a:xfrm>
        </p:spPr>
        <p:txBody>
          <a:bodyPr/>
          <a:p>
            <a:pPr algn="ctr"/>
            <a:r>
              <a:rPr lang="zh-CN" altLang="en-US"/>
              <a:t>请老师助教批评指教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2018</Words>
  <Application>WPS Office WWO_wpscloud_20250619170405-8613a0c879</Application>
  <PresentationFormat>Widescreen</PresentationFormat>
  <Paragraphs>105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汉仪书宋二KW</vt:lpstr>
      <vt:lpstr>Calibri Light</vt:lpstr>
      <vt:lpstr>Kingsoft Confetti</vt:lpstr>
      <vt:lpstr>Calibri</vt:lpstr>
      <vt:lpstr>Office Theme</vt:lpstr>
      <vt:lpstr>Home Credit - Credit Risk Model Stability</vt:lpstr>
      <vt:lpstr>1. 题目描述</vt:lpstr>
      <vt:lpstr>2. 评分体系</vt:lpstr>
      <vt:lpstr>3. 总体规划</vt:lpstr>
      <vt:lpstr>4. 数据集分析</vt:lpstr>
      <vt:lpstr>4. 数据集分析</vt:lpstr>
      <vt:lpstr>5. 特征工程</vt:lpstr>
      <vt:lpstr>6. 模型训练</vt:lpstr>
      <vt:lpstr>6. 模型训练</vt:lpstr>
      <vt:lpstr>7. 指标优化（其实是钻空子）</vt:lpstr>
      <vt:lpstr>请老师助教批评指教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 Credit - Credit Risk Model Stability</dc:title>
  <dc:creator>Andy</dc:creator>
  <cp:lastModifiedBy>徐晟洋</cp:lastModifiedBy>
  <dcterms:created xsi:type="dcterms:W3CDTF">2025-07-09T16:03:22Z</dcterms:created>
  <dcterms:modified xsi:type="dcterms:W3CDTF">2025-07-09T16:03:22Z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C071B00ABB7A48C9BEA3EB88AF1B148E_11</vt:lpwstr>
  </property>
  <property fmtid="{D5CDD505-2E9C-101B-9397-08002B2CF9AE}" pid="3" name="KSOProductBuildVer">
    <vt:lpwstr>2052-12.9.0.21905</vt:lpwstr>
  </property>
</Properties>
</file>